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48"/>
  </p:notesMasterIdLst>
  <p:sldIdLst>
    <p:sldId id="256" r:id="rId4"/>
    <p:sldId id="257" r:id="rId5"/>
    <p:sldId id="258" r:id="rId6"/>
    <p:sldId id="259" r:id="rId7"/>
    <p:sldId id="260" r:id="rId8"/>
    <p:sldId id="261" r:id="rId9"/>
    <p:sldId id="299" r:id="rId10"/>
    <p:sldId id="30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Medium" panose="02000000000000000000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52EC7B-2B70-412D-97DD-15A2E634F767}">
  <a:tblStyle styleId="{7C52EC7B-2B70-412D-97DD-15A2E634F7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5.xml"/><Relationship Id="rId51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610AE1BB-1C0E-182D-A7D2-3CBAE6217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>
            <a:extLst>
              <a:ext uri="{FF2B5EF4-FFF2-40B4-BE49-F238E27FC236}">
                <a16:creationId xmlns:a16="http://schemas.microsoft.com/office/drawing/2014/main" id="{AD296E12-14D2-1631-F489-FB827D36B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>
            <a:extLst>
              <a:ext uri="{FF2B5EF4-FFF2-40B4-BE49-F238E27FC236}">
                <a16:creationId xmlns:a16="http://schemas.microsoft.com/office/drawing/2014/main" id="{F2A936B9-5D1B-5503-DA5D-125FD3B35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919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71755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3ce85d903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rza1917/Clickhouse/tree/ma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kaggle.com/datasets/mkechinov/ecommerce-behavior-data-from-multi-category-stor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BkKU2HRLL26Wzz7eOPESOVAaIuvibp?usp=drive_lin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.png"/><Relationship Id="rId21" Type="http://schemas.openxmlformats.org/officeDocument/2006/relationships/image" Target="../media/image13.png"/><Relationship Id="rId42" Type="http://schemas.openxmlformats.org/officeDocument/2006/relationships/image" Target="../media/image59.png"/><Relationship Id="rId47" Type="http://schemas.openxmlformats.org/officeDocument/2006/relationships/image" Target="../media/image64.png"/><Relationship Id="rId63" Type="http://schemas.openxmlformats.org/officeDocument/2006/relationships/image" Target="../media/image80.png"/><Relationship Id="rId68" Type="http://schemas.openxmlformats.org/officeDocument/2006/relationships/image" Target="../media/image85.png"/><Relationship Id="rId7" Type="http://schemas.openxmlformats.org/officeDocument/2006/relationships/image" Target="../media/image26.png"/><Relationship Id="rId71" Type="http://schemas.openxmlformats.org/officeDocument/2006/relationships/image" Target="../media/image8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2.png"/><Relationship Id="rId29" Type="http://schemas.openxmlformats.org/officeDocument/2006/relationships/image" Target="../media/image46.png"/><Relationship Id="rId11" Type="http://schemas.openxmlformats.org/officeDocument/2006/relationships/image" Target="../media/image30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37" Type="http://schemas.openxmlformats.org/officeDocument/2006/relationships/image" Target="../media/image54.png"/><Relationship Id="rId40" Type="http://schemas.openxmlformats.org/officeDocument/2006/relationships/image" Target="../media/image57.png"/><Relationship Id="rId45" Type="http://schemas.openxmlformats.org/officeDocument/2006/relationships/image" Target="../media/image62.png"/><Relationship Id="rId53" Type="http://schemas.openxmlformats.org/officeDocument/2006/relationships/image" Target="../media/image70.png"/><Relationship Id="rId58" Type="http://schemas.openxmlformats.org/officeDocument/2006/relationships/image" Target="../media/image75.png"/><Relationship Id="rId66" Type="http://schemas.openxmlformats.org/officeDocument/2006/relationships/image" Target="../media/image83.png"/><Relationship Id="rId5" Type="http://schemas.openxmlformats.org/officeDocument/2006/relationships/image" Target="../media/image21.png"/><Relationship Id="rId61" Type="http://schemas.openxmlformats.org/officeDocument/2006/relationships/image" Target="../media/image78.png"/><Relationship Id="rId19" Type="http://schemas.openxmlformats.org/officeDocument/2006/relationships/image" Target="../media/image37.png"/><Relationship Id="rId14" Type="http://schemas.openxmlformats.org/officeDocument/2006/relationships/image" Target="../media/image33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52.png"/><Relationship Id="rId43" Type="http://schemas.openxmlformats.org/officeDocument/2006/relationships/image" Target="../media/image60.png"/><Relationship Id="rId48" Type="http://schemas.openxmlformats.org/officeDocument/2006/relationships/image" Target="../media/image65.png"/><Relationship Id="rId56" Type="http://schemas.openxmlformats.org/officeDocument/2006/relationships/image" Target="../media/image73.png"/><Relationship Id="rId64" Type="http://schemas.openxmlformats.org/officeDocument/2006/relationships/image" Target="../media/image81.png"/><Relationship Id="rId69" Type="http://schemas.openxmlformats.org/officeDocument/2006/relationships/image" Target="../media/image86.png"/><Relationship Id="rId8" Type="http://schemas.openxmlformats.org/officeDocument/2006/relationships/image" Target="../media/image27.png"/><Relationship Id="rId51" Type="http://schemas.openxmlformats.org/officeDocument/2006/relationships/image" Target="../media/image68.png"/><Relationship Id="rId3" Type="http://schemas.openxmlformats.org/officeDocument/2006/relationships/image" Target="../media/image23.png"/><Relationship Id="rId12" Type="http://schemas.openxmlformats.org/officeDocument/2006/relationships/image" Target="../media/image31.png"/><Relationship Id="rId17" Type="http://schemas.openxmlformats.org/officeDocument/2006/relationships/image" Target="../media/image35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38" Type="http://schemas.openxmlformats.org/officeDocument/2006/relationships/image" Target="../media/image55.png"/><Relationship Id="rId46" Type="http://schemas.openxmlformats.org/officeDocument/2006/relationships/image" Target="../media/image63.png"/><Relationship Id="rId59" Type="http://schemas.openxmlformats.org/officeDocument/2006/relationships/image" Target="../media/image76.png"/><Relationship Id="rId67" Type="http://schemas.openxmlformats.org/officeDocument/2006/relationships/image" Target="../media/image84.png"/><Relationship Id="rId20" Type="http://schemas.openxmlformats.org/officeDocument/2006/relationships/image" Target="../media/image38.png"/><Relationship Id="rId41" Type="http://schemas.openxmlformats.org/officeDocument/2006/relationships/image" Target="../media/image58.png"/><Relationship Id="rId54" Type="http://schemas.openxmlformats.org/officeDocument/2006/relationships/image" Target="../media/image71.png"/><Relationship Id="rId62" Type="http://schemas.openxmlformats.org/officeDocument/2006/relationships/image" Target="../media/image79.png"/><Relationship Id="rId70" Type="http://schemas.openxmlformats.org/officeDocument/2006/relationships/image" Target="../media/image87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5.png"/><Relationship Id="rId15" Type="http://schemas.openxmlformats.org/officeDocument/2006/relationships/image" Target="../media/image34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36" Type="http://schemas.openxmlformats.org/officeDocument/2006/relationships/image" Target="../media/image53.png"/><Relationship Id="rId49" Type="http://schemas.openxmlformats.org/officeDocument/2006/relationships/image" Target="../media/image66.png"/><Relationship Id="rId57" Type="http://schemas.openxmlformats.org/officeDocument/2006/relationships/image" Target="../media/image74.png"/><Relationship Id="rId10" Type="http://schemas.openxmlformats.org/officeDocument/2006/relationships/image" Target="../media/image29.png"/><Relationship Id="rId31" Type="http://schemas.openxmlformats.org/officeDocument/2006/relationships/image" Target="../media/image48.png"/><Relationship Id="rId44" Type="http://schemas.openxmlformats.org/officeDocument/2006/relationships/image" Target="../media/image61.png"/><Relationship Id="rId52" Type="http://schemas.openxmlformats.org/officeDocument/2006/relationships/image" Target="../media/image69.png"/><Relationship Id="rId60" Type="http://schemas.openxmlformats.org/officeDocument/2006/relationships/image" Target="../media/image77.png"/><Relationship Id="rId65" Type="http://schemas.openxmlformats.org/officeDocument/2006/relationships/image" Target="../media/image82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3" Type="http://schemas.openxmlformats.org/officeDocument/2006/relationships/image" Target="../media/image32.png"/><Relationship Id="rId18" Type="http://schemas.openxmlformats.org/officeDocument/2006/relationships/image" Target="../media/image36.png"/><Relationship Id="rId39" Type="http://schemas.openxmlformats.org/officeDocument/2006/relationships/image" Target="../media/image56.png"/><Relationship Id="rId34" Type="http://schemas.openxmlformats.org/officeDocument/2006/relationships/image" Target="../media/image51.png"/><Relationship Id="rId50" Type="http://schemas.openxmlformats.org/officeDocument/2006/relationships/image" Target="../media/image67.png"/><Relationship Id="rId55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99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osatom/articles/841842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00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0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Оптимизация производительности BI отчетов e-</a:t>
            </a:r>
            <a:r>
              <a:rPr lang="ru-RU" sz="28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commerce</a:t>
            </a: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на базе </a:t>
            </a:r>
            <a:r>
              <a:rPr lang="ru-RU" sz="28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ClickHouse</a:t>
            </a:r>
            <a:endParaRPr sz="28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699" y="4138025"/>
            <a:ext cx="5235319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4707752" cy="40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ClickHouse</a:t>
            </a:r>
            <a:r>
              <a:rPr lang="ru-RU" sz="16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для инженеров и архитекторов БД</a:t>
            </a:r>
            <a:endParaRPr lang="pt-PT" sz="16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ru-RU" sz="3000" dirty="0"/>
              <a:t>Оптимизация производительности BI отчетов e-</a:t>
            </a:r>
            <a:r>
              <a:rPr lang="ru-RU" sz="3000" dirty="0" err="1"/>
              <a:t>commerce</a:t>
            </a:r>
            <a:r>
              <a:rPr lang="ru-RU" sz="3000" dirty="0"/>
              <a:t> на базе </a:t>
            </a:r>
            <a:r>
              <a:rPr lang="ru-RU" sz="3000" dirty="0" err="1"/>
              <a:t>ClickHouse</a:t>
            </a:r>
            <a:br>
              <a:rPr lang="ru-RU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Корниенко Александр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Дата-инженер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D5D7DF-E608-C8B5-436A-EEB352DF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931193"/>
            <a:ext cx="2135757" cy="2847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425720621"/>
              </p:ext>
            </p:extLst>
          </p:nvPr>
        </p:nvGraphicFramePr>
        <p:xfrm>
          <a:off x="952500" y="2382125"/>
          <a:ext cx="7239000" cy="2380719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Superset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тестовом стенде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Загрузить тестовый датасет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e-commerce,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размножить данные в 3 раза.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Собрать две витрины с разной структурой, три чарта и дашборды над ними.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Добавить в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Performance Dashboard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аналитику перфоманса созданных витрин.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проанализировать улучшение перфоманса </a:t>
            </a:r>
            <a:r>
              <a:rPr lang="en-US" sz="1500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Clickhouse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при оптимальной структуре витрины данных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29253439"/>
              </p:ext>
            </p:extLst>
          </p:nvPr>
        </p:nvGraphicFramePr>
        <p:xfrm>
          <a:off x="952500" y="1021555"/>
          <a:ext cx="7239000" cy="4526003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2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8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52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8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Apache Superset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58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8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Performance Monitoring</a:t>
                      </a:r>
                      <a:endParaRPr lang="ru-RU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Репозиторий: </a:t>
                      </a:r>
                      <a:r>
                        <a:rPr lang="pt-PT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https://github.com/forza1917/Clickhouse/tree/main</a:t>
                      </a:r>
                      <a:endParaRPr lang="ru-RU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Источник данных: </a:t>
                      </a:r>
                      <a:r>
                        <a:rPr lang="pt-PT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https://www.kaggle.com/datasets/mkechinov/ecommerce-behavior-data-from-multi-category-store</a:t>
                      </a: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AD193D44-9E9B-C0AF-1D2E-C5355770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>
            <a:extLst>
              <a:ext uri="{FF2B5EF4-FFF2-40B4-BE49-F238E27FC236}">
                <a16:creationId xmlns:a16="http://schemas.microsoft.com/office/drawing/2014/main" id="{9A0656B0-7142-11F9-F9CB-5AE7D3E68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Сравнение перфоманса аналитических витрин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dirty="0"/>
          </a:p>
        </p:txBody>
      </p:sp>
      <p:sp>
        <p:nvSpPr>
          <p:cNvPr id="439" name="Google Shape;439;p62">
            <a:extLst>
              <a:ext uri="{FF2B5EF4-FFF2-40B4-BE49-F238E27FC236}">
                <a16:creationId xmlns:a16="http://schemas.microsoft.com/office/drawing/2014/main" id="{1A144D42-609C-1543-246D-4AA4288FB274}"/>
              </a:ext>
            </a:extLst>
          </p:cNvPr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>
            <a:extLst>
              <a:ext uri="{FF2B5EF4-FFF2-40B4-BE49-F238E27FC236}">
                <a16:creationId xmlns:a16="http://schemas.microsoft.com/office/drawing/2014/main" id="{69A5C2A8-77D9-A937-8D56-A3AB600B6F04}"/>
              </a:ext>
            </a:extLst>
          </p:cNvPr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>
            <a:extLst>
              <a:ext uri="{FF2B5EF4-FFF2-40B4-BE49-F238E27FC236}">
                <a16:creationId xmlns:a16="http://schemas.microsoft.com/office/drawing/2014/main" id="{FB763E3B-6917-B411-0931-7CDFA6D898B8}"/>
              </a:ext>
            </a:extLst>
          </p:cNvPr>
          <p:cNvSpPr txBox="1"/>
          <p:nvPr/>
        </p:nvSpPr>
        <p:spPr>
          <a:xfrm>
            <a:off x="1040225" y="1993025"/>
            <a:ext cx="3414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ENGINE = MergeTree</a:t>
            </a:r>
            <a:endParaRPr lang="ru-RU" sz="12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Сортировка </a:t>
            </a: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tuple()</a:t>
            </a:r>
            <a:endParaRPr sz="13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>
            <a:extLst>
              <a:ext uri="{FF2B5EF4-FFF2-40B4-BE49-F238E27FC236}">
                <a16:creationId xmlns:a16="http://schemas.microsoft.com/office/drawing/2014/main" id="{6C7180D5-B656-C827-22D9-3CA1DAF914C1}"/>
              </a:ext>
            </a:extLst>
          </p:cNvPr>
          <p:cNvSpPr txBox="1"/>
          <p:nvPr/>
        </p:nvSpPr>
        <p:spPr>
          <a:xfrm>
            <a:off x="5005100" y="2000675"/>
            <a:ext cx="32046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>
                <a:latin typeface="Roboto"/>
                <a:ea typeface="Roboto"/>
                <a:cs typeface="Roboto"/>
                <a:sym typeface="Roboto"/>
              </a:rPr>
              <a:t>ENGINE = MergeTree</a:t>
            </a: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Сортировка по типу события, дате и пользователю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Три агрегированные про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екции для оптимизации расчетов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Партицирование</a:t>
            </a:r>
            <a:r>
              <a:rPr lang="ru-R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по дате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>
            <a:extLst>
              <a:ext uri="{FF2B5EF4-FFF2-40B4-BE49-F238E27FC236}">
                <a16:creationId xmlns:a16="http://schemas.microsoft.com/office/drawing/2014/main" id="{CCA2B5FC-AFF7-48CD-25CB-84C0B6D05EF2}"/>
              </a:ext>
            </a:extLst>
          </p:cNvPr>
          <p:cNvSpPr txBox="1"/>
          <p:nvPr/>
        </p:nvSpPr>
        <p:spPr>
          <a:xfrm>
            <a:off x="1040224" y="1637850"/>
            <a:ext cx="2331625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Витрина дефолтная</a:t>
            </a:r>
            <a:endParaRPr sz="17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>
            <a:extLst>
              <a:ext uri="{FF2B5EF4-FFF2-40B4-BE49-F238E27FC236}">
                <a16:creationId xmlns:a16="http://schemas.microsoft.com/office/drawing/2014/main" id="{1843AFB9-C43A-F91D-F406-C924781F2801}"/>
              </a:ext>
            </a:extLst>
          </p:cNvPr>
          <p:cNvSpPr txBox="1"/>
          <p:nvPr/>
        </p:nvSpPr>
        <p:spPr>
          <a:xfrm>
            <a:off x="5005099" y="1637850"/>
            <a:ext cx="3204599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Витрина оптимизированная</a:t>
            </a:r>
            <a:endParaRPr sz="1700" b="1" dirty="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8FDE4B-426C-263D-D8E5-1AFE832A1AEE}"/>
              </a:ext>
            </a:extLst>
          </p:cNvPr>
          <p:cNvSpPr txBox="1"/>
          <p:nvPr/>
        </p:nvSpPr>
        <p:spPr>
          <a:xfrm>
            <a:off x="1285876" y="4078109"/>
            <a:ext cx="6781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Объем витрин: 10 ГБ</a:t>
            </a:r>
          </a:p>
          <a:p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Количество строк: 330М</a:t>
            </a:r>
          </a:p>
          <a:p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Чарты: Прибыль накопленным итогом по брендам, события по неделям, события по дням</a:t>
            </a:r>
            <a:endParaRPr lang="pt-PT" sz="1200" dirty="0">
              <a:solidFill>
                <a:srgbClr val="333333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0449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A0194-2897-DCDA-4A03-B4F3C40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519382"/>
          </a:xfrm>
        </p:spPr>
        <p:txBody>
          <a:bodyPr/>
          <a:lstStyle/>
          <a:p>
            <a:r>
              <a:rPr lang="ru-RU" dirty="0"/>
              <a:t>Дашборды аналитики и перформанса</a:t>
            </a:r>
            <a:endParaRPr lang="pt-PT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C7930B-CB39-BC73-9FAD-08C52D39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4" y="885913"/>
            <a:ext cx="6525447" cy="425758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F88CE2-36BF-2592-8902-AF37DC1B1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927" y="3178968"/>
            <a:ext cx="3262724" cy="10495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0CBC17-6AAF-2D7D-4FDB-BF596B07B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926" y="4228502"/>
            <a:ext cx="3262724" cy="88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9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520597359"/>
              </p:ext>
            </p:extLst>
          </p:nvPr>
        </p:nvGraphicFramePr>
        <p:xfrm>
          <a:off x="952500" y="1718400"/>
          <a:ext cx="7239000" cy="2184026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 оптимальной настройке структуры витрины можно добиться ускорения выполнения запросов в 10 раз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Можно настроить мониторинг нужных витрин через параметр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log_comment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при выполнении запроса или при соединении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ODBC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Мониторинг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можно настроить на определенные витрины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ru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lang="ru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>
            <a:spLocks noGrp="1"/>
          </p:cNvSpPr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lang="ru" sz="5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sz="1500"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7239000" cy="182875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sz="1700" b="1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sz="1700" b="1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>
            <a:spLocks noGrp="1"/>
          </p:cNvSpPr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2382</Words>
  <Application>Microsoft Office PowerPoint</Application>
  <PresentationFormat>Экран (16:9)</PresentationFormat>
  <Paragraphs>338</Paragraphs>
  <Slides>44</Slides>
  <Notes>44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44</vt:i4>
      </vt:variant>
    </vt:vector>
  </HeadingPairs>
  <TitlesOfParts>
    <vt:vector size="52" baseType="lpstr">
      <vt:lpstr>Arial</vt:lpstr>
      <vt:lpstr>Roboto</vt:lpstr>
      <vt:lpstr>Courier New</vt:lpstr>
      <vt:lpstr>Avenir</vt:lpstr>
      <vt:lpstr>Roboto Medium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Оптимизация производительности BI отчетов e-commerce на базе ClickHouse    </vt:lpstr>
      <vt:lpstr>План защиты</vt:lpstr>
      <vt:lpstr>Презентация PowerPoint</vt:lpstr>
      <vt:lpstr>Какие технологии использовались </vt:lpstr>
      <vt:lpstr>Сравнение перфоманса аналитических витрин   </vt:lpstr>
      <vt:lpstr>Дашборды аналитики и перформанса</vt:lpstr>
      <vt:lpstr>Выводы </vt:lpstr>
      <vt:lpstr>Презентация PowerPoint</vt:lpstr>
      <vt:lpstr>Спасибо за внимание!</vt:lpstr>
      <vt:lpstr>Презентация PowerPoint</vt:lpstr>
      <vt:lpstr>Инструменты для работы с презентацией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Шаблоны, которые вы можете использовать для рассказа о своем проекте</vt:lpstr>
      <vt:lpstr>Материал для моделирования </vt:lpstr>
      <vt:lpstr>Презентация PowerPoint</vt:lpstr>
      <vt:lpstr>Слайды с “кнопками” </vt:lpstr>
      <vt:lpstr>Презентация PowerPoint</vt:lpstr>
      <vt:lpstr>Заголовок: главная мысль слайда </vt:lpstr>
      <vt:lpstr>Главная мысль слайда</vt:lpstr>
      <vt:lpstr>Главная мысль слайда</vt:lpstr>
      <vt:lpstr>Слайд со списком </vt:lpstr>
      <vt:lpstr>Главная мысль  слайда  </vt:lpstr>
      <vt:lpstr>Слайд с 3 колонками</vt:lpstr>
      <vt:lpstr>Сравнение двух кейсов  </vt:lpstr>
      <vt:lpstr>Презентация PowerPoint</vt:lpstr>
      <vt:lpstr>Заголовок: главная мысль слайда </vt:lpstr>
      <vt:lpstr>Презентация PowerPoint</vt:lpstr>
      <vt:lpstr>Процесс через этапы </vt:lpstr>
      <vt:lpstr>Процесс через этапы </vt:lpstr>
      <vt:lpstr>Процесс через этапы </vt:lpstr>
      <vt:lpstr>Процесс через этапы </vt:lpstr>
      <vt:lpstr>Презентация PowerPoint</vt:lpstr>
      <vt:lpstr>Слайд с кодом 1</vt:lpstr>
      <vt:lpstr>Слайд с кодом 2</vt:lpstr>
      <vt:lpstr>Слайд с кодом 3</vt:lpstr>
      <vt:lpstr>Слайд с кодом и текстом </vt:lpstr>
      <vt:lpstr>Слайд с таблицей</vt:lpstr>
      <vt:lpstr>Слайд с таблицей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Aleksandr</dc:creator>
  <cp:lastModifiedBy>Aleksandr</cp:lastModifiedBy>
  <cp:revision>2</cp:revision>
  <dcterms:modified xsi:type="dcterms:W3CDTF">2026-05-25T20:59:40Z</dcterms:modified>
</cp:coreProperties>
</file>